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6e4ba56-4f5d-85cf-fea8-c6e7f703bc63}">
          <p14:sldIdLst>
            <p14:sldId id="256"/>
            <p14:sldId id="257"/>
          </p14:sldIdLst>
        </p14:section>
        <p14:section name="Equipamentos" id="{903d5d80-ff0a-e6ba-85b4-dac25115f895}">
          <p14:sldIdLst>
            <p14:sldId id="258"/>
            <p14:sldId id="259"/>
            <p14:sldId id="260"/>
            <p14:sldId id="261"/>
          </p14:sldIdLst>
        </p14:section>
        <p14:section name="Entrega dos dados" id="{a2dd1caf-217b-eb94-a692-e9b581e15aa4}">
          <p14:sldIdLst>
            <p14:sldId id="262"/>
            <p14:sldId id="263"/>
          </p14:sldIdLst>
        </p14:section>
        <p14:section name="Sistema" id="{e1db81a8-989a-f9b5-f206-e13fc92775fc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Fechamento" id="{07fe7fa7-105b-6fac-25ed-0f8abb8464c0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sobre como o nível do Rio Acre chega à página /rio: equipamentos da estação, caminho do dado, APIs da ANA e o sistema do CamRB.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Estação 13600002, cotas de referência, transmissão via GOES e a regra de frescor de 120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do SGB sobre o SAH Acre e a área de drenagem. A configuração exata dos sensores da estação 13600002 não foi confirmada.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Componentes típicos descritos pela ANA para estações telemétricas.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Energia, transmissão, sincronismo e proteção.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 principal HidroWebService; reserva XML legado. Códigos de qualidade 0, 1 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Regras implementadas em rio_service.py e rio_server.py, cobertas por 25 testes em Python e 11 no servidor Node.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menor nível (1,23 m) não foi confirmado em fonte oficial; as médias mensais da página também precisam de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das mudanças feitas na página /rio e no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que dependem de confirmação do SGB/ANA ou de ação do usuário.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CamRB · Rio Acre em Rio Branco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vo círculo grande"/>
          <p:cNvSpPr/>
          <p:nvPr/>
        </p:nvSpPr>
        <p:spPr>
          <a:xfrm>
            <a:off x="6309360" y="822960"/>
            <a:ext cx="3291840" cy="3291840"/>
          </a:xfrm>
          <a:prstGeom prst="ellipse">
            <a:avLst/>
          </a:prstGeom>
          <a:solidFill>
            <a:schemeClr val="accent3">
              <a:alpha val="30000"/>
            </a:schemeClr>
          </a:solidFill>
          <a:ln/>
        </p:spPr>
      </p:sp>
      <p:sp>
        <p:nvSpPr>
          <p:cNvPr id="3" name="Motivo círculo pequeno"/>
          <p:cNvSpPr/>
          <p:nvPr/>
        </p:nvSpPr>
        <p:spPr>
          <a:xfrm>
            <a:off x="7498080" y="2834640"/>
            <a:ext cx="2011680" cy="2011680"/>
          </a:xfrm>
          <a:prstGeom prst="ellipse">
            <a:avLst/>
          </a:prstGeom>
          <a:solidFill>
            <a:schemeClr val="accent1">
              <a:alpha val="45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Rio Acre em Rio Branco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Equipamentos, coleta, entrega dos dados e o sistema da página /rio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CamRB · camerasriobranco.com.br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em quatro números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28016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Marcador 1"/>
          <p:cNvSpPr/>
          <p:nvPr/>
        </p:nvSpPr>
        <p:spPr>
          <a:xfrm>
            <a:off x="594360" y="1417320"/>
            <a:ext cx="256032" cy="256032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783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13600002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6060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da estação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Branco – Ponte Metálica</a:t>
            </a:r>
            <a:endParaRPr lang="en-US" sz="1400" dirty="0"/>
          </a:p>
        </p:txBody>
      </p:sp>
      <p:sp>
        <p:nvSpPr>
          <p:cNvPr id="7" name="Cartão 2"/>
          <p:cNvSpPr/>
          <p:nvPr/>
        </p:nvSpPr>
        <p:spPr>
          <a:xfrm>
            <a:off x="2542032" y="128016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Marcador 2"/>
          <p:cNvSpPr/>
          <p:nvPr/>
        </p:nvSpPr>
        <p:spPr>
          <a:xfrm>
            <a:off x="2679192" y="1417320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79192" y="1783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14,00 m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6060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de transbordamento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(alerta em 13,50 m)</a:t>
            </a:r>
            <a:endParaRPr lang="en-US" sz="1400" dirty="0"/>
          </a:p>
        </p:txBody>
      </p:sp>
      <p:sp>
        <p:nvSpPr>
          <p:cNvPr id="11" name="Cartão 3"/>
          <p:cNvSpPr/>
          <p:nvPr/>
        </p:nvSpPr>
        <p:spPr>
          <a:xfrm>
            <a:off x="4626864" y="128016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Marcador 3"/>
          <p:cNvSpPr/>
          <p:nvPr/>
        </p:nvSpPr>
        <p:spPr>
          <a:xfrm>
            <a:off x="4764024" y="1417320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64024" y="1783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GOES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6060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satélite que leva os dados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estação até a ANA</a:t>
            </a:r>
            <a:endParaRPr lang="en-US" sz="1400" dirty="0"/>
          </a:p>
        </p:txBody>
      </p:sp>
      <p:sp>
        <p:nvSpPr>
          <p:cNvPr id="15" name="Cartão 4"/>
          <p:cNvSpPr/>
          <p:nvPr/>
        </p:nvSpPr>
        <p:spPr>
          <a:xfrm>
            <a:off x="6711696" y="128016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Marcador 4"/>
          <p:cNvSpPr/>
          <p:nvPr/>
        </p:nvSpPr>
        <p:spPr>
          <a:xfrm>
            <a:off x="6848856" y="1417320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48856" y="1783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min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6060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para o dado 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 como desatualizado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nível do Rio Acre é medido por uma estação automática da ANA/SGB, viaja por satélite e é publicado em APIs que o CamRB consulta, valida e mostra.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estação telemétrica</a:t>
            </a:r>
            <a:endParaRPr lang="en-US" sz="3000" dirty="0"/>
          </a:p>
        </p:txBody>
      </p:sp>
      <p:sp>
        <p:nvSpPr>
          <p:cNvPr id="3" name="Círculo ícone 1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Ícone Onde" descr="On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4356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61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57276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Metálica, em Rio Branco (AC), no Rio Acre</a:t>
            </a:r>
            <a:endParaRPr lang="en-US" sz="1400" dirty="0"/>
          </a:p>
        </p:txBody>
      </p:sp>
      <p:sp>
        <p:nvSpPr>
          <p:cNvPr id="7" name="Círculo ícone 2"/>
          <p:cNvSpPr/>
          <p:nvPr/>
        </p:nvSpPr>
        <p:spPr>
          <a:xfrm>
            <a:off x="457200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Ícone Quem opera" descr="Quem op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5328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3591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opera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67004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da ANA, operada pelo SGB/CPRM</a:t>
            </a:r>
            <a:endParaRPr lang="en-US" sz="1400" dirty="0"/>
          </a:p>
        </p:txBody>
      </p:sp>
      <p:sp>
        <p:nvSpPr>
          <p:cNvPr id="11" name="Círculo ícone 3"/>
          <p:cNvSpPr/>
          <p:nvPr/>
        </p:nvSpPr>
        <p:spPr>
          <a:xfrm>
            <a:off x="457200" y="3474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Ícone Alerta de cheias" descr="Alerta de chei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63016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4564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cheias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76732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 do Acre desde 2014, com 5 estações; leituras alimentam modelos e boletins à Defesa Civil</a:t>
            </a:r>
            <a:endParaRPr lang="en-US" sz="1400" dirty="0"/>
          </a:p>
        </p:txBody>
      </p:sp>
      <p:sp>
        <p:nvSpPr>
          <p:cNvPr id="15" name="Cartão área de drenagem"/>
          <p:cNvSpPr/>
          <p:nvPr/>
        </p:nvSpPr>
        <p:spPr>
          <a:xfrm>
            <a:off x="5669280" y="1280160"/>
            <a:ext cx="3017520" cy="310896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852160" y="1645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23.433 km²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585216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drenagem no ponto da estação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852160" y="32004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rio responde a chuvas ocorridas muito a montante: o nível muda de forma gradual, em horas e dias.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é uma estação</a:t>
            </a:r>
            <a:endParaRPr lang="en-US" sz="3000" dirty="0"/>
          </a:p>
        </p:txBody>
      </p:sp>
      <p:pic>
        <p:nvPicPr>
          <p:cNvPr id="3" name="Diagrama da estação" descr="Esquema de uma estação hidrometeorológica com régua, sensor de radar, PCD, painel solar e antena GO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025" y="1005840"/>
            <a:ext cx="5989951" cy="33375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esquemática (não é foto). A configuração exata da estação 13600002 deve ser confirmada com o SGB/CPRM.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mede o rio</a:t>
            </a:r>
            <a:endParaRPr lang="en-US" sz="3000" dirty="0"/>
          </a:p>
        </p:txBody>
      </p:sp>
      <p:sp>
        <p:nvSpPr>
          <p:cNvPr id="3" name="Cartão Régua linimétrica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Círculo Régua linimétrica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Ícone Régua linimétrica" descr="Régua linimétr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27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 linimétrica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83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graduada: leitura visual do nível e conferência do sensor automático.</a:t>
            </a:r>
            <a:endParaRPr lang="en-US" sz="1400" dirty="0"/>
          </a:p>
        </p:txBody>
      </p:sp>
      <p:sp>
        <p:nvSpPr>
          <p:cNvPr id="8" name="Cartão Sensor de nível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Círculo Sensor de nível"/>
          <p:cNvSpPr/>
          <p:nvPr/>
        </p:nvSpPr>
        <p:spPr>
          <a:xfrm>
            <a:off x="4846320" y="13716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Ícone Sensor de nível" descr="Sensor de nív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5270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 nível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783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(mede a distância até a água), pressão ou borbulhador.</a:t>
            </a:r>
            <a:endParaRPr lang="en-US" sz="1400" dirty="0"/>
          </a:p>
        </p:txBody>
      </p:sp>
      <p:sp>
        <p:nvSpPr>
          <p:cNvPr id="13" name="Cartão Pluviômetro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Círculo Pluviômetro"/>
          <p:cNvSpPr/>
          <p:nvPr/>
        </p:nvSpPr>
        <p:spPr>
          <a:xfrm>
            <a:off x="640080" y="30632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Ícone Pluviômetro" descr="Pluviômet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186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Pluviômetro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474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acumulada em milímetros; convencional ou automático.</a:t>
            </a:r>
            <a:endParaRPr lang="en-US" sz="1400" dirty="0"/>
          </a:p>
        </p:txBody>
      </p:sp>
      <p:sp>
        <p:nvSpPr>
          <p:cNvPr id="18" name="Cartão PCD com datalogger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9" name="Círculo PCD com datalogger"/>
          <p:cNvSpPr/>
          <p:nvPr/>
        </p:nvSpPr>
        <p:spPr>
          <a:xfrm>
            <a:off x="4846320" y="30632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Ícone PCD com datalogger" descr="PCD com datalogg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21868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PCD com datalogger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474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os sensores, grava as leituras e monta a mensagem a transmitir.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mantém e transmite</a:t>
            </a:r>
            <a:endParaRPr lang="en-US" sz="3000" dirty="0"/>
          </a:p>
        </p:txBody>
      </p:sp>
      <p:sp>
        <p:nvSpPr>
          <p:cNvPr id="3" name="Cartão Energia solar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Círculo Energia solar"/>
          <p:cNvSpPr/>
          <p:nvPr/>
        </p:nvSpPr>
        <p:spPr>
          <a:xfrm>
            <a:off x="640080" y="13716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Ícone Energia solar" descr="Energia so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27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solar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83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Painel, bateria e controlador: a estação funciona sem rede elétrica.</a:t>
            </a:r>
            <a:endParaRPr lang="en-US" sz="1400" dirty="0"/>
          </a:p>
        </p:txBody>
      </p:sp>
      <p:sp>
        <p:nvSpPr>
          <p:cNvPr id="8" name="Cartão Antena GOES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9" name="Círculo Antena GOES"/>
          <p:cNvSpPr/>
          <p:nvPr/>
        </p:nvSpPr>
        <p:spPr>
          <a:xfrm>
            <a:off x="4846320" y="13716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Ícone Antena GOES" descr="Antena GO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5270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 GOES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7830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Transmissor que envia os dados ao satélite, que os repassa à ANA.</a:t>
            </a:r>
            <a:endParaRPr lang="en-US" sz="1400" dirty="0"/>
          </a:p>
        </p:txBody>
      </p:sp>
      <p:sp>
        <p:nvSpPr>
          <p:cNvPr id="13" name="Cartão Antena GPS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4" name="Círculo Antena GPS"/>
          <p:cNvSpPr/>
          <p:nvPr/>
        </p:nvSpPr>
        <p:spPr>
          <a:xfrm>
            <a:off x="640080" y="30632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Ícone Antena GPS" descr="Antena GP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186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Antena GPS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474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o relógio sincronizado para as janelas de transmissão.</a:t>
            </a:r>
            <a:endParaRPr lang="en-US" sz="1400" dirty="0"/>
          </a:p>
        </p:txBody>
      </p:sp>
      <p:sp>
        <p:nvSpPr>
          <p:cNvPr id="18" name="Cartão Proteção elétrica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9" name="Círculo Proteção elétrica"/>
          <p:cNvSpPr/>
          <p:nvPr/>
        </p:nvSpPr>
        <p:spPr>
          <a:xfrm>
            <a:off x="4846320" y="30632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Ícone Proteção elétrica" descr="Proteção elétri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21868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elétrica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474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surtos e aterramento contra descargas.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sensor ao navegador</a:t>
            </a:r>
            <a:endParaRPr lang="en-US" sz="3000" dirty="0"/>
          </a:p>
        </p:txBody>
      </p:sp>
      <p:pic>
        <p:nvPicPr>
          <p:cNvPr id="3" name="Diagrama do fluxo do dado" descr="Sete etapas: sensores, PCD, satélite GOES, ANA/SGB, APIs públicas, servidor CamRB e página /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181" y="1051560"/>
            <a:ext cx="7883638" cy="31089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de coleta e transmissão variam por estação; a ANA publica o dado depois de receber e validar.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APIs da ANA</a:t>
            </a:r>
            <a:endParaRPr lang="en-US" sz="3000" dirty="0"/>
          </a:p>
        </p:txBody>
      </p:sp>
      <p:sp>
        <p:nvSpPr>
          <p:cNvPr id="3" name="Cartão HidroWebService (REST)"/>
          <p:cNvSpPr/>
          <p:nvPr/>
        </p:nvSpPr>
        <p:spPr>
          <a:xfrm>
            <a:off x="457200" y="1188720"/>
            <a:ext cx="40233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Etiqueta Principal"/>
          <p:cNvSpPr/>
          <p:nvPr/>
        </p:nvSpPr>
        <p:spPr>
          <a:xfrm>
            <a:off x="685800" y="137160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HidroWebService (REST)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identificador e senha devolve um token JWT. A série da estação é pedida por código e intervalo (2 a 30 dias). Credenciais ficam em variáveis de ambiente.</a:t>
            </a:r>
            <a:endParaRPr lang="en-US" sz="1400" dirty="0"/>
          </a:p>
        </p:txBody>
      </p:sp>
      <p:sp>
        <p:nvSpPr>
          <p:cNvPr id="8" name="Cartão Webservice XML legado"/>
          <p:cNvSpPr/>
          <p:nvPr/>
        </p:nvSpPr>
        <p:spPr>
          <a:xfrm>
            <a:off x="4663440" y="1188720"/>
            <a:ext cx="40233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Etiqueta Reserva"/>
          <p:cNvSpPr/>
          <p:nvPr/>
        </p:nvSpPr>
        <p:spPr>
          <a:xfrm>
            <a:off x="4892040" y="137160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92040" y="1371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Webservice XML legado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240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HTTP que devolve XML com as leituras. Entra em ação se o HidroWeb falhar ou se não houver credenciais.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de cada leitura: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ok · 1 = suspeito · 2 = ruim. O CamRB descarta as ruins, remove duplicadas e ordena por horário antes de calcular.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página /rio</a:t>
            </a:r>
            <a:endParaRPr lang="en-US" sz="3000" dirty="0"/>
          </a:p>
        </p:txBody>
      </p:sp>
      <p:pic>
        <p:nvPicPr>
          <p:cNvPr id="3" name="Diagrama da arquitetura" descr="Navegador, servidor Flask com rio_server.py e rio_service.py, e as fontes da A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01892"/>
            <a:ext cx="8229600" cy="3191177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rio_server.py (Flask) entrega a página e a API; rio_service.py consulta a ANA, valida e calcula.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confiabilidade</a:t>
            </a:r>
            <a:endParaRPr lang="en-US" sz="3000" dirty="0"/>
          </a:p>
        </p:txBody>
      </p:sp>
      <p:sp>
        <p:nvSpPr>
          <p:cNvPr id="3" name="Círculo Nunca inventar dado"/>
          <p:cNvSpPr/>
          <p:nvPr/>
        </p:nvSpPr>
        <p:spPr>
          <a:xfrm>
            <a:off x="457200" y="11887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Ícone Nunca inventar dado" descr="Nunca inventar d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339596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1704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inventar dado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4813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leitura confiável, a página mostra “--” e orienta ligar para a Defesa Civil (199).</a:t>
            </a:r>
            <a:endParaRPr lang="en-US" sz="1400" dirty="0"/>
          </a:p>
        </p:txBody>
      </p:sp>
      <p:sp>
        <p:nvSpPr>
          <p:cNvPr id="7" name="Círculo Frescor da leitura"/>
          <p:cNvSpPr/>
          <p:nvPr/>
        </p:nvSpPr>
        <p:spPr>
          <a:xfrm>
            <a:off x="457200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Ícone Frescor da leitura" descr="Frescor da leitu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21625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199339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Frescor da leitura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30428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120 minutos: aviso de dado desatualizado na página.</a:t>
            </a:r>
            <a:endParaRPr lang="en-US" sz="1400" dirty="0"/>
          </a:p>
        </p:txBody>
      </p:sp>
      <p:sp>
        <p:nvSpPr>
          <p:cNvPr id="11" name="Círculo Ordem das fontes"/>
          <p:cNvSpPr/>
          <p:nvPr/>
        </p:nvSpPr>
        <p:spPr>
          <a:xfrm>
            <a:off x="457200" y="2834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Ícone Ordem das fontes" descr="Ordem das font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298551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816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das fontes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12724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HidroWeb, XML legado, cache antigo sinalizado e, por fim, erro 503.</a:t>
            </a:r>
            <a:endParaRPr lang="en-US" sz="1400" dirty="0"/>
          </a:p>
        </p:txBody>
      </p:sp>
      <p:sp>
        <p:nvSpPr>
          <p:cNvPr id="15" name="Círculo Proteções"/>
          <p:cNvSpPr/>
          <p:nvPr/>
        </p:nvSpPr>
        <p:spPr>
          <a:xfrm>
            <a:off x="457200" y="3657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Ícone Proteções" descr="Proteçõ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380847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363931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Proteções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280160" y="395020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requisições por IP, câmeras só da lista permitida e cabeçalhos de segurança.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em imagens</a:t>
            </a:r>
            <a:endParaRPr lang="en-US" sz="3000" dirty="0"/>
          </a:p>
        </p:txBody>
      </p:sp>
      <p:pic>
        <p:nvPicPr>
          <p:cNvPr id="3" name="Captura do painel de nível" descr="Painel principal com nível, situação e escala da régu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9792"/>
            <a:ext cx="3566160" cy="260965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aptura do gráfico histórico" descr="Gráfico de séries históricas das últimas 24 hor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30489"/>
            <a:ext cx="4480560" cy="208826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principal e gráfico histórico (24 h a 1 ano). Capturas com dados simulados, não são medições reais.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Estimativa de tendência</a:t>
            </a:r>
            <a:endParaRPr lang="en-US" sz="3000" dirty="0"/>
          </a:p>
        </p:txBody>
      </p:sp>
      <p:pic>
        <p:nvPicPr>
          <p:cNvPr id="3" name="Captura da estimativa" descr="Cartões com estimativa para 24 horas, 48 horas e 7 di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66824"/>
            <a:ext cx="5394960" cy="261559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126480" y="118872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previsão oficial.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 ajustada às últimas 24 h, projetada com amortecimento e faixa de incerteza que cresce com o tempo.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considera chuva prevista nem o nível a montante. Para alertas, vale o SGB/CPRM e a Defesa Civil.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com dados simulados.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algo dá errado</a:t>
            </a:r>
            <a:endParaRPr lang="en-US" sz="3000" dirty="0"/>
          </a:p>
        </p:txBody>
      </p:sp>
      <p:pic>
        <p:nvPicPr>
          <p:cNvPr id="3" name="Captura de dado desatualizado" descr="Aviso amarelo de leitura com sete ho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1382"/>
            <a:ext cx="4023360" cy="195779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Captura de ANA indisponível" descr="Painel sem dados quando a ANA está fora do 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61382"/>
            <a:ext cx="4023360" cy="195779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457200" y="35661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7 horas: o valor aparece com aviso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5661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fora do ar, sem cache: nenhum valor é exibido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simulados; as câmeras aparecem offline porque o ambiente de captura não acessa a rede da prefeitura.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Cotas e valores de referência</a:t>
            </a:r>
            <a:endParaRPr lang="en-US" sz="3000" dirty="0"/>
          </a:p>
        </p:txBody>
      </p:sp>
      <p:graphicFrame>
        <p:nvGraphicFramePr>
          <p:cNvPr id="15" name="Tabela de cot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Referência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Cota de atenção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Primeiro nível de acompanhamento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Cota de alerta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13,50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Segundo nível de acompanhamento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Cota de transbordamento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 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rio extravasa a calha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cheia registrada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18,40 m (04/03/2015)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Amazônia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nível registrado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1,23 m (21/09/2024)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confirmado em fonte oficial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foi corrigido</a:t>
            </a:r>
            <a:endParaRPr lang="en-US" sz="3000" dirty="0"/>
          </a:p>
        </p:txBody>
      </p:sp>
      <p:pic>
        <p:nvPicPr>
          <p:cNvPr id="3" name="Ícone item 1" descr="Concluí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6152"/>
            <a:ext cx="365760" cy="365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Removidos os valores padrão inventados (1,76 m, 45,0 m³/s, 0,0 mm) que apareciam quando a ANA falhava</a:t>
            </a:r>
            <a:endParaRPr lang="en-US" sz="1600" dirty="0"/>
          </a:p>
        </p:txBody>
      </p:sp>
      <p:pic>
        <p:nvPicPr>
          <p:cNvPr id="5" name="Ícone item 2" descr="Concluí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05840" y="184708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Cotas (14,00 m e 13,50 m) e recorde de cheia (18,40 m) corrigidos</a:t>
            </a:r>
            <a:endParaRPr lang="en-US" sz="1600" dirty="0"/>
          </a:p>
        </p:txBody>
      </p:sp>
      <p:pic>
        <p:nvPicPr>
          <p:cNvPr id="7" name="Ícone item 3" descr="Concluí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32888"/>
            <a:ext cx="365760" cy="3657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05840" y="250545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“Previsão” virou “estimativa”, com o método explicado</a:t>
            </a:r>
            <a:endParaRPr lang="en-US" sz="1600" dirty="0"/>
          </a:p>
        </p:txBody>
      </p:sp>
      <p:pic>
        <p:nvPicPr>
          <p:cNvPr id="9" name="Ícone item 4" descr="Concluí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91256"/>
            <a:ext cx="365760" cy="36576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05840" y="316382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Novos: aviso de dado desatualizado e estado “sem dados”</a:t>
            </a:r>
            <a:endParaRPr lang="en-US" sz="1600" dirty="0"/>
          </a:p>
        </p:txBody>
      </p:sp>
      <p:pic>
        <p:nvPicPr>
          <p:cNvPr id="11" name="Ícone item 5" descr="Concluí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49624"/>
            <a:ext cx="365760" cy="36576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05840" y="38221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em Python (Flask) com 25 testes; servidor Node com 11 testes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 pontos a verificar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exatos dos sensores da estação 13600002 não confirmados; o esquema mostra a configuração típica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HidroWebService real (com credenciais) e XML legado não puderam ser testados; os testes usaram dados simulados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nível (1,23 m) e médias mensais da página precisam de fonte oficial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reconstruir a imagem na sua máquina para incluir as alterações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o Acre">
  <a:themeElements>
    <a:clrScheme name="Rio Acre">
      <a:dk1>
        <a:srgbClr val="0F172A"/>
      </a:dk1>
      <a:lt1>
        <a:srgbClr val="FFFFFF"/>
      </a:lt1>
      <a:dk2>
        <a:srgbClr val="0B3C5D"/>
      </a:dk2>
      <a:lt2>
        <a:srgbClr val="EAF2F8"/>
      </a:lt2>
      <a:accent1>
        <a:srgbClr val="0E7C66"/>
      </a:accent1>
      <a:accent2>
        <a:srgbClr val="F59E0B"/>
      </a:accent2>
      <a:accent3>
        <a:srgbClr val="0B6EA8"/>
      </a:accent3>
      <a:accent4>
        <a:srgbClr val="DC2626"/>
      </a:accent4>
      <a:accent5>
        <a:srgbClr val="64748B"/>
      </a:accent5>
      <a:accent6>
        <a:srgbClr val="84CC16"/>
      </a:accent6>
      <a:hlink>
        <a:srgbClr val="0B6EA8"/>
      </a:hlink>
      <a:folHlink>
        <a:srgbClr val="64748B"/>
      </a:folHlink>
    </a:clrScheme>
    <a:fontScheme name="Rio Ac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Rio Acre em Rio Branco — equipamentos, coleta, entrega e sistema</dc:title>
  <dc:subject>PptxGenJS Presentation</dc:subject>
  <dc:creator>Gabriel Victor</dc:creator>
  <cp:lastModifiedBy>Gabriel Victor</cp:lastModifiedBy>
  <cp:revision>1</cp:revision>
  <dcterms:created xsi:type="dcterms:W3CDTF">2026-10-23T20:09:21Z</dcterms:created>
  <dcterms:modified xsi:type="dcterms:W3CDTF">2026-10-23T20:09:21Z</dcterms:modified>
</cp:coreProperties>
</file>